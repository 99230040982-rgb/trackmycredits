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3939" y="464261"/>
            <a:ext cx="4271645" cy="680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1E398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4785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1E398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4785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1E398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1E398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36846" y="596900"/>
            <a:ext cx="2817495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1E398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1389" y="2137105"/>
            <a:ext cx="9602470" cy="1755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4785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01215" algn="l"/>
              </a:tabLst>
            </a:pPr>
            <a:r>
              <a:rPr dirty="0" sz="4300" spc="220">
                <a:solidFill>
                  <a:srgbClr val="252525"/>
                </a:solidFill>
              </a:rPr>
              <a:t>Credit</a:t>
            </a:r>
            <a:r>
              <a:rPr dirty="0" sz="4300">
                <a:solidFill>
                  <a:srgbClr val="252525"/>
                </a:solidFill>
              </a:rPr>
              <a:t>	</a:t>
            </a:r>
            <a:r>
              <a:rPr dirty="0" sz="4300" spc="135">
                <a:solidFill>
                  <a:srgbClr val="252525"/>
                </a:solidFill>
              </a:rPr>
              <a:t>Tracker</a:t>
            </a:r>
            <a:endParaRPr sz="4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79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5428488" y="4498847"/>
            <a:ext cx="5636260" cy="0"/>
          </a:xfrm>
          <a:custGeom>
            <a:avLst/>
            <a:gdLst/>
            <a:ahLst/>
            <a:cxnLst/>
            <a:rect l="l" t="t" r="r" b="b"/>
            <a:pathLst>
              <a:path w="5636259" h="0">
                <a:moveTo>
                  <a:pt x="0" y="0"/>
                </a:moveTo>
                <a:lnTo>
                  <a:pt x="5636133" y="0"/>
                </a:lnTo>
              </a:path>
            </a:pathLst>
          </a:custGeom>
          <a:ln w="12192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176265" y="2384297"/>
            <a:ext cx="521525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470" b="1">
                <a:latin typeface="Arial"/>
                <a:cs typeface="Arial"/>
              </a:rPr>
              <a:t>A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spc="-170" b="1">
                <a:latin typeface="Arial"/>
                <a:cs typeface="Arial"/>
              </a:rPr>
              <a:t>comprehensive</a:t>
            </a:r>
            <a:r>
              <a:rPr dirty="0" sz="2400" spc="-140" b="1">
                <a:latin typeface="Arial"/>
                <a:cs typeface="Arial"/>
              </a:rPr>
              <a:t> </a:t>
            </a:r>
            <a:r>
              <a:rPr dirty="0" sz="2400" spc="-175" b="1">
                <a:latin typeface="Arial"/>
                <a:cs typeface="Arial"/>
              </a:rPr>
              <a:t>web-</a:t>
            </a:r>
            <a:r>
              <a:rPr dirty="0" sz="2400" spc="-155" b="1">
                <a:latin typeface="Arial"/>
                <a:cs typeface="Arial"/>
              </a:rPr>
              <a:t>based</a:t>
            </a:r>
            <a:r>
              <a:rPr dirty="0" sz="2400" spc="-114" b="1">
                <a:latin typeface="Arial"/>
                <a:cs typeface="Arial"/>
              </a:rPr>
              <a:t> </a:t>
            </a:r>
            <a:r>
              <a:rPr dirty="0" sz="2400" spc="-160" b="1">
                <a:latin typeface="Arial"/>
                <a:cs typeface="Arial"/>
              </a:rPr>
              <a:t>solution</a:t>
            </a:r>
            <a:r>
              <a:rPr dirty="0" sz="2400" spc="-145" b="1">
                <a:latin typeface="Arial"/>
                <a:cs typeface="Arial"/>
              </a:rPr>
              <a:t> </a:t>
            </a:r>
            <a:r>
              <a:rPr dirty="0" sz="2400" spc="-155" b="1">
                <a:latin typeface="Arial"/>
                <a:cs typeface="Arial"/>
              </a:rPr>
              <a:t>for</a:t>
            </a:r>
            <a:r>
              <a:rPr dirty="0" sz="2400" spc="-110" b="1">
                <a:latin typeface="Arial"/>
                <a:cs typeface="Arial"/>
              </a:rPr>
              <a:t> </a:t>
            </a:r>
            <a:r>
              <a:rPr dirty="0" sz="2400" spc="-140" b="1">
                <a:latin typeface="Arial"/>
                <a:cs typeface="Arial"/>
              </a:rPr>
              <a:t>kalasalingam </a:t>
            </a:r>
            <a:r>
              <a:rPr dirty="0" sz="2400" spc="-145" b="1">
                <a:latin typeface="Arial"/>
                <a:cs typeface="Arial"/>
              </a:rPr>
              <a:t>students</a:t>
            </a:r>
            <a:r>
              <a:rPr dirty="0" sz="2400" spc="-150" b="1">
                <a:latin typeface="Arial"/>
                <a:cs typeface="Arial"/>
              </a:rPr>
              <a:t> </a:t>
            </a:r>
            <a:r>
              <a:rPr dirty="0" sz="2400" spc="-155" b="1">
                <a:latin typeface="Arial"/>
                <a:cs typeface="Arial"/>
              </a:rPr>
              <a:t>to</a:t>
            </a:r>
            <a:r>
              <a:rPr dirty="0" sz="2400" spc="-95" b="1">
                <a:latin typeface="Arial"/>
                <a:cs typeface="Arial"/>
              </a:rPr>
              <a:t> </a:t>
            </a:r>
            <a:r>
              <a:rPr dirty="0" sz="2400" spc="-120" b="1">
                <a:latin typeface="Arial"/>
                <a:cs typeface="Arial"/>
              </a:rPr>
              <a:t>track</a:t>
            </a:r>
            <a:r>
              <a:rPr dirty="0" sz="2400" spc="-145" b="1">
                <a:latin typeface="Arial"/>
                <a:cs typeface="Arial"/>
              </a:rPr>
              <a:t> </a:t>
            </a:r>
            <a:r>
              <a:rPr dirty="0" sz="2400" spc="-130" b="1">
                <a:latin typeface="Arial"/>
                <a:cs typeface="Arial"/>
              </a:rPr>
              <a:t>and</a:t>
            </a:r>
            <a:r>
              <a:rPr dirty="0" sz="2400" spc="-120" b="1">
                <a:latin typeface="Arial"/>
                <a:cs typeface="Arial"/>
              </a:rPr>
              <a:t> </a:t>
            </a:r>
            <a:r>
              <a:rPr dirty="0" sz="2400" spc="-125" b="1">
                <a:latin typeface="Arial"/>
                <a:cs typeface="Arial"/>
              </a:rPr>
              <a:t>plan</a:t>
            </a:r>
            <a:r>
              <a:rPr dirty="0" sz="2400" spc="-75" b="1">
                <a:latin typeface="Arial"/>
                <a:cs typeface="Arial"/>
              </a:rPr>
              <a:t> </a:t>
            </a:r>
            <a:r>
              <a:rPr dirty="0" sz="2400" spc="-140" b="1">
                <a:latin typeface="Arial"/>
                <a:cs typeface="Arial"/>
              </a:rPr>
              <a:t>academic</a:t>
            </a:r>
            <a:r>
              <a:rPr dirty="0" sz="2400" spc="-155" b="1">
                <a:latin typeface="Arial"/>
                <a:cs typeface="Arial"/>
              </a:rPr>
              <a:t> </a:t>
            </a:r>
            <a:r>
              <a:rPr dirty="0" sz="2400" spc="-140" b="1">
                <a:latin typeface="Arial"/>
                <a:cs typeface="Arial"/>
              </a:rPr>
              <a:t>credits</a:t>
            </a:r>
            <a:r>
              <a:rPr dirty="0" sz="2400" spc="-150" b="1">
                <a:latin typeface="Arial"/>
                <a:cs typeface="Arial"/>
              </a:rPr>
              <a:t> </a:t>
            </a:r>
            <a:r>
              <a:rPr dirty="0" sz="2400" spc="-125" b="1">
                <a:latin typeface="Arial"/>
                <a:cs typeface="Arial"/>
              </a:rPr>
              <a:t>efficiently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5115" y="195148"/>
            <a:ext cx="3406775" cy="5124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/>
              <a:t>Project</a:t>
            </a:r>
            <a:r>
              <a:rPr dirty="0" sz="3200" spc="-90"/>
              <a:t> </a:t>
            </a:r>
            <a:r>
              <a:rPr dirty="0" sz="3200" spc="-10"/>
              <a:t>Objectives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1763648" y="829182"/>
            <a:ext cx="9735820" cy="46589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80160">
              <a:lnSpc>
                <a:spcPct val="100000"/>
              </a:lnSpc>
              <a:spcBef>
                <a:spcPts val="90"/>
              </a:spcBef>
            </a:pPr>
            <a:r>
              <a:rPr dirty="0" sz="2000" spc="-10">
                <a:solidFill>
                  <a:srgbClr val="6B7180"/>
                </a:solidFill>
                <a:latin typeface="Arial MT"/>
                <a:cs typeface="Arial MT"/>
              </a:rPr>
              <a:t>Eliminating</a:t>
            </a:r>
            <a:r>
              <a:rPr dirty="0" sz="2000" spc="-100">
                <a:solidFill>
                  <a:srgbClr val="6B718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6B7180"/>
                </a:solidFill>
                <a:latin typeface="Arial MT"/>
                <a:cs typeface="Arial MT"/>
              </a:rPr>
              <a:t>Academic</a:t>
            </a:r>
            <a:r>
              <a:rPr dirty="0" sz="2000" spc="-65">
                <a:solidFill>
                  <a:srgbClr val="6B718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6B7180"/>
                </a:solidFill>
                <a:latin typeface="Arial MT"/>
                <a:cs typeface="Arial MT"/>
              </a:rPr>
              <a:t>Credit</a:t>
            </a:r>
            <a:r>
              <a:rPr dirty="0" sz="2000" spc="-50">
                <a:solidFill>
                  <a:srgbClr val="6B718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6B7180"/>
                </a:solidFill>
                <a:latin typeface="Arial MT"/>
                <a:cs typeface="Arial MT"/>
              </a:rPr>
              <a:t>Confusion</a:t>
            </a:r>
            <a:r>
              <a:rPr dirty="0" sz="2000" spc="-60">
                <a:solidFill>
                  <a:srgbClr val="6B718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6B7180"/>
                </a:solidFill>
                <a:latin typeface="Arial MT"/>
                <a:cs typeface="Arial MT"/>
              </a:rPr>
              <a:t>for</a:t>
            </a:r>
            <a:r>
              <a:rPr dirty="0" sz="2000" spc="-85">
                <a:solidFill>
                  <a:srgbClr val="6B7180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6B7180"/>
                </a:solidFill>
                <a:latin typeface="Arial MT"/>
                <a:cs typeface="Arial MT"/>
              </a:rPr>
              <a:t>Students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60"/>
              </a:spcBef>
            </a:pPr>
            <a:r>
              <a:rPr dirty="0" sz="1800" b="1">
                <a:solidFill>
                  <a:srgbClr val="1E3989"/>
                </a:solidFill>
                <a:latin typeface="Cambria"/>
                <a:cs typeface="Cambria"/>
              </a:rPr>
              <a:t>Streamline</a:t>
            </a:r>
            <a:r>
              <a:rPr dirty="0" sz="1800" spc="160" b="1">
                <a:solidFill>
                  <a:srgbClr val="1E3989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E3989"/>
                </a:solidFill>
                <a:latin typeface="Cambria"/>
                <a:cs typeface="Cambria"/>
              </a:rPr>
              <a:t>Credit</a:t>
            </a:r>
            <a:r>
              <a:rPr dirty="0" sz="1800" spc="135" b="1">
                <a:solidFill>
                  <a:srgbClr val="1E3989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E3989"/>
                </a:solidFill>
                <a:latin typeface="Cambria"/>
                <a:cs typeface="Cambria"/>
              </a:rPr>
              <a:t>Tracking</a:t>
            </a:r>
            <a:r>
              <a:rPr dirty="0" sz="1800" spc="140" b="1">
                <a:solidFill>
                  <a:srgbClr val="1E3989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E3989"/>
                </a:solidFill>
                <a:latin typeface="Cambria"/>
                <a:cs typeface="Cambria"/>
              </a:rPr>
              <a:t>Process</a:t>
            </a: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Eliminate</a:t>
            </a:r>
            <a:r>
              <a:rPr dirty="0" sz="1800" spc="-6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confusion</a:t>
            </a:r>
            <a:r>
              <a:rPr dirty="0" sz="1800" spc="-5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among</a:t>
            </a:r>
            <a:r>
              <a:rPr dirty="0" sz="1800" spc="-2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students</a:t>
            </a:r>
            <a:r>
              <a:rPr dirty="0" sz="1800" spc="-4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about</a:t>
            </a:r>
            <a:r>
              <a:rPr dirty="0" sz="1800" spc="-3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credit completion</a:t>
            </a:r>
            <a:r>
              <a:rPr dirty="0" sz="1800" spc="-5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across</a:t>
            </a:r>
            <a:r>
              <a:rPr dirty="0" sz="1800" spc="-1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various</a:t>
            </a:r>
            <a:r>
              <a:rPr dirty="0" sz="1800" spc="-2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categories</a:t>
            </a:r>
            <a:r>
              <a:rPr dirty="0" sz="1800" spc="-4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4A5462"/>
                </a:solidFill>
                <a:latin typeface="Arial MT"/>
                <a:cs typeface="Arial MT"/>
              </a:rPr>
              <a:t>including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Experiential</a:t>
            </a:r>
            <a:r>
              <a:rPr dirty="0" sz="1800" spc="-3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Core,</a:t>
            </a:r>
            <a:r>
              <a:rPr dirty="0" sz="1800" spc="-3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Program</a:t>
            </a:r>
            <a:r>
              <a:rPr dirty="0" sz="1800" spc="-4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Core,</a:t>
            </a:r>
            <a:r>
              <a:rPr dirty="0" sz="1800" spc="-3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and</a:t>
            </a:r>
            <a:r>
              <a:rPr dirty="0" sz="1800" spc="-2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University</a:t>
            </a:r>
            <a:r>
              <a:rPr dirty="0" sz="1800" spc="-4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4A5462"/>
                </a:solidFill>
                <a:latin typeface="Arial MT"/>
                <a:cs typeface="Arial MT"/>
              </a:rPr>
              <a:t>Electives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1E3989"/>
                </a:solidFill>
                <a:latin typeface="Cambria"/>
                <a:cs typeface="Cambria"/>
              </a:rPr>
              <a:t>Planning</a:t>
            </a:r>
            <a:r>
              <a:rPr dirty="0" sz="1800" spc="190" b="1">
                <a:solidFill>
                  <a:srgbClr val="1E3989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E3989"/>
                </a:solidFill>
                <a:latin typeface="Cambria"/>
                <a:cs typeface="Cambria"/>
              </a:rPr>
              <a:t>Assistant</a:t>
            </a:r>
            <a:endParaRPr sz="1800">
              <a:latin typeface="Cambria"/>
              <a:cs typeface="Cambria"/>
            </a:endParaRPr>
          </a:p>
          <a:p>
            <a:pPr marL="12700" marR="320802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Guide</a:t>
            </a:r>
            <a:r>
              <a:rPr dirty="0" sz="1800" spc="-2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students</a:t>
            </a:r>
            <a:r>
              <a:rPr dirty="0" sz="1800" spc="-5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with</a:t>
            </a:r>
            <a:r>
              <a:rPr dirty="0" sz="1800" spc="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helpful</a:t>
            </a:r>
            <a:r>
              <a:rPr dirty="0" sz="1800" spc="-4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suggestions</a:t>
            </a:r>
            <a:r>
              <a:rPr dirty="0" sz="1800" spc="-6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for</a:t>
            </a:r>
            <a:r>
              <a:rPr dirty="0" sz="1800" spc="-2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course</a:t>
            </a:r>
            <a:r>
              <a:rPr dirty="0" sz="1800" spc="-4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selection</a:t>
            </a:r>
            <a:r>
              <a:rPr dirty="0" sz="1800" spc="-6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4A5462"/>
                </a:solidFill>
                <a:latin typeface="Arial MT"/>
                <a:cs typeface="Arial MT"/>
              </a:rPr>
              <a:t>and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activity</a:t>
            </a:r>
            <a:r>
              <a:rPr dirty="0" sz="1800" spc="-3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recommendations</a:t>
            </a:r>
            <a:r>
              <a:rPr dirty="0" sz="1800" spc="-6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to</a:t>
            </a:r>
            <a:r>
              <a:rPr dirty="0" sz="1800" spc="-1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fulfill</a:t>
            </a:r>
            <a:r>
              <a:rPr dirty="0" sz="1800" spc="-4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different</a:t>
            </a:r>
            <a:r>
              <a:rPr dirty="0" sz="1800" spc="-6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A5462"/>
                </a:solidFill>
                <a:latin typeface="Arial MT"/>
                <a:cs typeface="Arial MT"/>
              </a:rPr>
              <a:t>credit</a:t>
            </a:r>
            <a:r>
              <a:rPr dirty="0" sz="1800" spc="-45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4A5462"/>
                </a:solidFill>
                <a:latin typeface="Arial MT"/>
                <a:cs typeface="Arial MT"/>
              </a:rPr>
              <a:t>requirements efficiently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1800" b="1">
                <a:solidFill>
                  <a:srgbClr val="1E3989"/>
                </a:solidFill>
                <a:latin typeface="Cambria"/>
                <a:cs typeface="Cambria"/>
              </a:rPr>
              <a:t>Comprehensive</a:t>
            </a:r>
            <a:r>
              <a:rPr dirty="0" sz="1800" spc="95" b="1">
                <a:solidFill>
                  <a:srgbClr val="1E3989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E3989"/>
                </a:solidFill>
                <a:latin typeface="Cambria"/>
                <a:cs typeface="Cambria"/>
              </a:rPr>
              <a:t>Category</a:t>
            </a:r>
            <a:r>
              <a:rPr dirty="0" sz="1800" spc="100" b="1">
                <a:solidFill>
                  <a:srgbClr val="1E3989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E3989"/>
                </a:solidFill>
                <a:latin typeface="Cambria"/>
                <a:cs typeface="Cambria"/>
              </a:rPr>
              <a:t>Management</a:t>
            </a:r>
            <a:endParaRPr sz="1800">
              <a:latin typeface="Cambria"/>
              <a:cs typeface="Cambria"/>
            </a:endParaRPr>
          </a:p>
          <a:p>
            <a:pPr marL="12700" marR="4016375">
              <a:lnSpc>
                <a:spcPct val="100000"/>
              </a:lnSpc>
              <a:spcBef>
                <a:spcPts val="1230"/>
              </a:spcBef>
            </a:pPr>
            <a:r>
              <a:rPr dirty="0" sz="1800">
                <a:latin typeface="Franklin Gothic Medium"/>
                <a:cs typeface="Franklin Gothic Medium"/>
              </a:rPr>
              <a:t>Support</a:t>
            </a:r>
            <a:r>
              <a:rPr dirty="0" sz="1800" spc="-8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tracking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across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all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credit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categories: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Experiential </a:t>
            </a:r>
            <a:r>
              <a:rPr dirty="0" sz="1800">
                <a:latin typeface="Franklin Gothic Medium"/>
                <a:cs typeface="Franklin Gothic Medium"/>
              </a:rPr>
              <a:t>Core,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Experiential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Elective,</a:t>
            </a:r>
            <a:r>
              <a:rPr dirty="0" sz="1800" spc="-30">
                <a:latin typeface="Franklin Gothic Medium"/>
                <a:cs typeface="Franklin Gothic Medium"/>
              </a:rPr>
              <a:t> </a:t>
            </a:r>
            <a:r>
              <a:rPr dirty="0" sz="1800" spc="-45">
                <a:latin typeface="Franklin Gothic Medium"/>
                <a:cs typeface="Franklin Gothic Medium"/>
              </a:rPr>
              <a:t>Program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Core,</a:t>
            </a:r>
            <a:r>
              <a:rPr dirty="0" sz="1800" spc="-30">
                <a:latin typeface="Franklin Gothic Medium"/>
                <a:cs typeface="Franklin Gothic Medium"/>
              </a:rPr>
              <a:t> </a:t>
            </a:r>
            <a:r>
              <a:rPr dirty="0" sz="1800" spc="-45">
                <a:latin typeface="Franklin Gothic Medium"/>
                <a:cs typeface="Franklin Gothic Medium"/>
              </a:rPr>
              <a:t>Program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Elective, University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Elective,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and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Minors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5626" y="259842"/>
            <a:ext cx="3537585" cy="453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/>
              <a:t>Targeted</a:t>
            </a:r>
            <a:r>
              <a:rPr dirty="0" sz="2800" spc="-110"/>
              <a:t> </a:t>
            </a:r>
            <a:r>
              <a:rPr dirty="0" sz="2800" spc="-10"/>
              <a:t>Community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1892045" y="1578609"/>
            <a:ext cx="5247005" cy="296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E3989"/>
                </a:solidFill>
                <a:latin typeface="Cambria"/>
                <a:cs typeface="Cambria"/>
              </a:rPr>
              <a:t>Primary</a:t>
            </a:r>
            <a:r>
              <a:rPr dirty="0" sz="1800" spc="140" b="1">
                <a:solidFill>
                  <a:srgbClr val="1E3989"/>
                </a:solidFill>
                <a:latin typeface="Cambria"/>
                <a:cs typeface="Cambria"/>
              </a:rPr>
              <a:t> </a:t>
            </a:r>
            <a:r>
              <a:rPr dirty="0" sz="1800" spc="-20" b="1">
                <a:solidFill>
                  <a:srgbClr val="1E3989"/>
                </a:solidFill>
                <a:latin typeface="Cambria"/>
                <a:cs typeface="Cambria"/>
              </a:rPr>
              <a:t>Users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students</a:t>
            </a:r>
            <a:r>
              <a:rPr dirty="0" sz="1800" spc="-5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across</a:t>
            </a:r>
            <a:r>
              <a:rPr dirty="0" sz="1800" spc="-3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all</a:t>
            </a:r>
            <a:r>
              <a:rPr dirty="0" sz="1800" spc="-1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academic</a:t>
            </a:r>
            <a:r>
              <a:rPr dirty="0" sz="1800" spc="-75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years</a:t>
            </a:r>
            <a:r>
              <a:rPr dirty="0" sz="1800" spc="2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(1st</a:t>
            </a:r>
            <a:r>
              <a:rPr dirty="0" sz="1800" spc="-35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to</a:t>
            </a:r>
            <a:r>
              <a:rPr dirty="0" sz="1800" spc="2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4th </a:t>
            </a:r>
            <a:r>
              <a:rPr dirty="0" sz="1800" spc="-10">
                <a:solidFill>
                  <a:srgbClr val="374151"/>
                </a:solidFill>
                <a:latin typeface="Arial MT"/>
                <a:cs typeface="Arial MT"/>
              </a:rPr>
              <a:t>year)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seeking</a:t>
            </a:r>
            <a:r>
              <a:rPr dirty="0" sz="1800" spc="-55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clarity</a:t>
            </a:r>
            <a:r>
              <a:rPr dirty="0" sz="1800" spc="-15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in credit</a:t>
            </a:r>
            <a:r>
              <a:rPr dirty="0" sz="1800" spc="-3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374151"/>
                </a:solidFill>
                <a:latin typeface="Arial MT"/>
                <a:cs typeface="Arial MT"/>
              </a:rPr>
              <a:t>com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1E3989"/>
                </a:solidFill>
                <a:latin typeface="Cambria"/>
                <a:cs typeface="Cambria"/>
              </a:rPr>
              <a:t>Secondary</a:t>
            </a:r>
            <a:r>
              <a:rPr dirty="0" sz="1800" spc="-5" b="1">
                <a:solidFill>
                  <a:srgbClr val="1E3989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E3989"/>
                </a:solidFill>
                <a:latin typeface="Cambria"/>
                <a:cs typeface="Cambria"/>
              </a:rPr>
              <a:t>Users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800">
              <a:latin typeface="Cambria"/>
              <a:cs typeface="Cambria"/>
            </a:endParaRPr>
          </a:p>
          <a:p>
            <a:pPr marL="12700" marR="163195">
              <a:lnSpc>
                <a:spcPct val="100000"/>
              </a:lnSpc>
            </a:pP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Academic</a:t>
            </a:r>
            <a:r>
              <a:rPr dirty="0" sz="1800" spc="-55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advisors</a:t>
            </a:r>
            <a:r>
              <a:rPr dirty="0" sz="1800" spc="-25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and</a:t>
            </a:r>
            <a:r>
              <a:rPr dirty="0" sz="1800" spc="-5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department</a:t>
            </a:r>
            <a:r>
              <a:rPr dirty="0" sz="1800" spc="-55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Arial MT"/>
                <a:cs typeface="Arial MT"/>
              </a:rPr>
              <a:t>coordinators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supporting</a:t>
            </a:r>
            <a:r>
              <a:rPr dirty="0" sz="1800" spc="-45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student</a:t>
            </a:r>
            <a:r>
              <a:rPr dirty="0" sz="1800" spc="-25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academic</a:t>
            </a:r>
            <a:r>
              <a:rPr dirty="0" sz="1800" spc="-65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planning</a:t>
            </a:r>
            <a:r>
              <a:rPr dirty="0" sz="1800" spc="-45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74151"/>
                </a:solidFill>
                <a:latin typeface="Arial MT"/>
                <a:cs typeface="Arial MT"/>
              </a:rPr>
              <a:t>and</a:t>
            </a:r>
            <a:r>
              <a:rPr dirty="0" sz="1800" spc="1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Arial MT"/>
                <a:cs typeface="Arial MT"/>
              </a:rPr>
              <a:t>degree completion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5175" y="649681"/>
            <a:ext cx="195008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How</a:t>
            </a:r>
            <a:r>
              <a:rPr dirty="0" sz="24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It</a:t>
            </a:r>
            <a:r>
              <a:rPr dirty="0" sz="24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000000"/>
                </a:solidFill>
                <a:latin typeface="Arial"/>
                <a:cs typeface="Arial"/>
              </a:rPr>
              <a:t>Works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05611" y="1016000"/>
            <a:ext cx="10341610" cy="3867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95">
                <a:latin typeface="Cambria"/>
                <a:cs typeface="Cambria"/>
              </a:rPr>
              <a:t>The</a:t>
            </a:r>
            <a:r>
              <a:rPr dirty="0" sz="1800" spc="180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website</a:t>
            </a:r>
            <a:r>
              <a:rPr dirty="0" sz="1800" spc="210">
                <a:latin typeface="Cambria"/>
                <a:cs typeface="Cambria"/>
              </a:rPr>
              <a:t> </a:t>
            </a:r>
            <a:r>
              <a:rPr dirty="0" sz="1800" spc="110">
                <a:latin typeface="Cambria"/>
                <a:cs typeface="Cambria"/>
              </a:rPr>
              <a:t>guides</a:t>
            </a:r>
            <a:r>
              <a:rPr dirty="0" sz="1800" spc="165">
                <a:latin typeface="Cambria"/>
                <a:cs typeface="Cambria"/>
              </a:rPr>
              <a:t> </a:t>
            </a:r>
            <a:r>
              <a:rPr dirty="0" sz="1800" spc="125">
                <a:latin typeface="Cambria"/>
                <a:cs typeface="Cambria"/>
              </a:rPr>
              <a:t>students</a:t>
            </a:r>
            <a:r>
              <a:rPr dirty="0" sz="1800" spc="210">
                <a:latin typeface="Cambria"/>
                <a:cs typeface="Cambria"/>
              </a:rPr>
              <a:t> </a:t>
            </a:r>
            <a:r>
              <a:rPr dirty="0" sz="1800" spc="100">
                <a:latin typeface="Cambria"/>
                <a:cs typeface="Cambria"/>
              </a:rPr>
              <a:t>in</a:t>
            </a:r>
            <a:r>
              <a:rPr dirty="0" sz="1800" spc="175">
                <a:latin typeface="Cambria"/>
                <a:cs typeface="Cambria"/>
              </a:rPr>
              <a:t> </a:t>
            </a:r>
            <a:r>
              <a:rPr dirty="0" sz="1800" spc="125">
                <a:latin typeface="Cambria"/>
                <a:cs typeface="Cambria"/>
              </a:rPr>
              <a:t>planning</a:t>
            </a:r>
            <a:r>
              <a:rPr dirty="0" sz="1800" spc="150">
                <a:latin typeface="Cambria"/>
                <a:cs typeface="Cambria"/>
              </a:rPr>
              <a:t> </a:t>
            </a:r>
            <a:r>
              <a:rPr dirty="0" sz="1800" spc="155">
                <a:latin typeface="Cambria"/>
                <a:cs typeface="Cambria"/>
              </a:rPr>
              <a:t>and</a:t>
            </a:r>
            <a:r>
              <a:rPr dirty="0" sz="1800" spc="170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completing</a:t>
            </a:r>
            <a:r>
              <a:rPr dirty="0" sz="1800" spc="175">
                <a:latin typeface="Cambria"/>
                <a:cs typeface="Cambria"/>
              </a:rPr>
              <a:t> </a:t>
            </a:r>
            <a:r>
              <a:rPr dirty="0" sz="1800" spc="75">
                <a:latin typeface="Cambria"/>
                <a:cs typeface="Cambria"/>
              </a:rPr>
              <a:t>their</a:t>
            </a:r>
            <a:r>
              <a:rPr dirty="0" sz="1800" spc="210">
                <a:latin typeface="Cambria"/>
                <a:cs typeface="Cambria"/>
              </a:rPr>
              <a:t> </a:t>
            </a:r>
            <a:r>
              <a:rPr dirty="0" sz="1800" spc="80">
                <a:latin typeface="Cambria"/>
                <a:cs typeface="Cambria"/>
              </a:rPr>
              <a:t>credits</a:t>
            </a:r>
            <a:r>
              <a:rPr dirty="0" sz="1800" spc="18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efficiently.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00" spc="50">
                <a:latin typeface="Cambria"/>
                <a:cs typeface="Cambria"/>
              </a:rPr>
              <a:t>It</a:t>
            </a:r>
            <a:r>
              <a:rPr dirty="0" sz="1800" spc="185">
                <a:latin typeface="Cambria"/>
                <a:cs typeface="Cambria"/>
              </a:rPr>
              <a:t> </a:t>
            </a:r>
            <a:r>
              <a:rPr dirty="0" sz="1800" spc="105">
                <a:latin typeface="Cambria"/>
                <a:cs typeface="Cambria"/>
              </a:rPr>
              <a:t>shows</a:t>
            </a:r>
            <a:r>
              <a:rPr dirty="0" sz="1800" spc="200">
                <a:latin typeface="Cambria"/>
                <a:cs typeface="Cambria"/>
              </a:rPr>
              <a:t> </a:t>
            </a:r>
            <a:r>
              <a:rPr dirty="0" sz="1800" spc="105">
                <a:latin typeface="Cambria"/>
                <a:cs typeface="Cambria"/>
              </a:rPr>
              <a:t>which</a:t>
            </a:r>
            <a:r>
              <a:rPr dirty="0" sz="1800" spc="220">
                <a:latin typeface="Cambria"/>
                <a:cs typeface="Cambria"/>
              </a:rPr>
              <a:t> </a:t>
            </a:r>
            <a:r>
              <a:rPr dirty="0" sz="1800" spc="110">
                <a:latin typeface="Cambria"/>
                <a:cs typeface="Cambria"/>
              </a:rPr>
              <a:t>NPTEL</a:t>
            </a:r>
            <a:r>
              <a:rPr dirty="0" sz="1800" spc="200">
                <a:latin typeface="Cambria"/>
                <a:cs typeface="Cambria"/>
              </a:rPr>
              <a:t> </a:t>
            </a:r>
            <a:r>
              <a:rPr dirty="0" sz="1800" spc="114">
                <a:latin typeface="Cambria"/>
                <a:cs typeface="Cambria"/>
              </a:rPr>
              <a:t>courses</a:t>
            </a:r>
            <a:r>
              <a:rPr dirty="0" sz="1800" spc="225">
                <a:latin typeface="Cambria"/>
                <a:cs typeface="Cambria"/>
              </a:rPr>
              <a:t> </a:t>
            </a:r>
            <a:r>
              <a:rPr dirty="0" sz="1800" spc="90">
                <a:latin typeface="Cambria"/>
                <a:cs typeface="Cambria"/>
              </a:rPr>
              <a:t>they</a:t>
            </a:r>
            <a:r>
              <a:rPr dirty="0" sz="1800" spc="190">
                <a:latin typeface="Cambria"/>
                <a:cs typeface="Cambria"/>
              </a:rPr>
              <a:t> </a:t>
            </a:r>
            <a:r>
              <a:rPr dirty="0" sz="1800" spc="165">
                <a:latin typeface="Cambria"/>
                <a:cs typeface="Cambria"/>
              </a:rPr>
              <a:t>can</a:t>
            </a:r>
            <a:r>
              <a:rPr dirty="0" sz="1800" spc="215">
                <a:latin typeface="Cambria"/>
                <a:cs typeface="Cambria"/>
              </a:rPr>
              <a:t> </a:t>
            </a:r>
            <a:r>
              <a:rPr dirty="0" sz="1800" spc="110">
                <a:latin typeface="Cambria"/>
                <a:cs typeface="Cambria"/>
              </a:rPr>
              <a:t>take</a:t>
            </a:r>
            <a:r>
              <a:rPr dirty="0" sz="1800" spc="180">
                <a:latin typeface="Cambria"/>
                <a:cs typeface="Cambria"/>
              </a:rPr>
              <a:t> </a:t>
            </a:r>
            <a:r>
              <a:rPr dirty="0" sz="1800" spc="120">
                <a:latin typeface="Cambria"/>
                <a:cs typeface="Cambria"/>
              </a:rPr>
              <a:t>based</a:t>
            </a:r>
            <a:r>
              <a:rPr dirty="0" sz="1800" spc="190">
                <a:latin typeface="Cambria"/>
                <a:cs typeface="Cambria"/>
              </a:rPr>
              <a:t> </a:t>
            </a:r>
            <a:r>
              <a:rPr dirty="0" sz="1800" spc="110">
                <a:latin typeface="Cambria"/>
                <a:cs typeface="Cambria"/>
              </a:rPr>
              <a:t>on</a:t>
            </a:r>
            <a:r>
              <a:rPr dirty="0" sz="1800" spc="19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difficulty</a:t>
            </a:r>
            <a:r>
              <a:rPr dirty="0" sz="1800" spc="24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level</a:t>
            </a:r>
            <a:r>
              <a:rPr dirty="0" sz="1800" spc="26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–</a:t>
            </a:r>
            <a:r>
              <a:rPr dirty="0" sz="1800" spc="220">
                <a:latin typeface="Cambria"/>
                <a:cs typeface="Cambria"/>
              </a:rPr>
              <a:t> </a:t>
            </a:r>
            <a:r>
              <a:rPr dirty="0" sz="1800" spc="75">
                <a:latin typeface="Cambria"/>
                <a:cs typeface="Cambria"/>
              </a:rPr>
              <a:t>categorized</a:t>
            </a:r>
            <a:r>
              <a:rPr dirty="0" sz="1800" spc="215">
                <a:latin typeface="Cambria"/>
                <a:cs typeface="Cambria"/>
              </a:rPr>
              <a:t> </a:t>
            </a:r>
            <a:r>
              <a:rPr dirty="0" sz="1800" spc="165">
                <a:latin typeface="Cambria"/>
                <a:cs typeface="Cambria"/>
              </a:rPr>
              <a:t>as</a:t>
            </a:r>
            <a:r>
              <a:rPr dirty="0" sz="1800" spc="180">
                <a:latin typeface="Cambria"/>
                <a:cs typeface="Cambria"/>
              </a:rPr>
              <a:t> </a:t>
            </a:r>
            <a:r>
              <a:rPr dirty="0" sz="1800" spc="110">
                <a:latin typeface="Cambria"/>
                <a:cs typeface="Cambria"/>
              </a:rPr>
              <a:t>easy,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00" spc="105">
                <a:latin typeface="Cambria"/>
                <a:cs typeface="Cambria"/>
              </a:rPr>
              <a:t>moderate,</a:t>
            </a:r>
            <a:r>
              <a:rPr dirty="0" sz="1800" spc="150">
                <a:latin typeface="Cambria"/>
                <a:cs typeface="Cambria"/>
              </a:rPr>
              <a:t> </a:t>
            </a:r>
            <a:r>
              <a:rPr dirty="0" sz="1800" spc="50">
                <a:latin typeface="Cambria"/>
                <a:cs typeface="Cambria"/>
              </a:rPr>
              <a:t>or</a:t>
            </a:r>
            <a:r>
              <a:rPr dirty="0" sz="1800" spc="185">
                <a:latin typeface="Cambria"/>
                <a:cs typeface="Cambria"/>
              </a:rPr>
              <a:t> </a:t>
            </a:r>
            <a:r>
              <a:rPr dirty="0" sz="1800" spc="125">
                <a:latin typeface="Cambria"/>
                <a:cs typeface="Cambria"/>
              </a:rPr>
              <a:t>hard.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00" spc="185">
                <a:latin typeface="Cambria"/>
                <a:cs typeface="Cambria"/>
              </a:rPr>
              <a:t>Each</a:t>
            </a:r>
            <a:r>
              <a:rPr dirty="0" sz="1800" spc="170">
                <a:latin typeface="Cambria"/>
                <a:cs typeface="Cambria"/>
              </a:rPr>
              <a:t> </a:t>
            </a:r>
            <a:r>
              <a:rPr dirty="0" sz="1800" spc="114">
                <a:latin typeface="Cambria"/>
                <a:cs typeface="Cambria"/>
              </a:rPr>
              <a:t>course</a:t>
            </a:r>
            <a:r>
              <a:rPr dirty="0" sz="1800" spc="210">
                <a:latin typeface="Cambria"/>
                <a:cs typeface="Cambria"/>
              </a:rPr>
              <a:t> </a:t>
            </a:r>
            <a:r>
              <a:rPr dirty="0" sz="1800" spc="80">
                <a:latin typeface="Cambria"/>
                <a:cs typeface="Cambria"/>
              </a:rPr>
              <a:t>lists</a:t>
            </a:r>
            <a:r>
              <a:rPr dirty="0" sz="1800" spc="210">
                <a:latin typeface="Cambria"/>
                <a:cs typeface="Cambria"/>
              </a:rPr>
              <a:t> </a:t>
            </a:r>
            <a:r>
              <a:rPr dirty="0" sz="1800" spc="105">
                <a:latin typeface="Cambria"/>
                <a:cs typeface="Cambria"/>
              </a:rPr>
              <a:t>the</a:t>
            </a:r>
            <a:r>
              <a:rPr dirty="0" sz="1800" spc="190">
                <a:latin typeface="Cambria"/>
                <a:cs typeface="Cambria"/>
              </a:rPr>
              <a:t> </a:t>
            </a:r>
            <a:r>
              <a:rPr dirty="0" sz="1800" spc="80">
                <a:latin typeface="Cambria"/>
                <a:cs typeface="Cambria"/>
              </a:rPr>
              <a:t>credits</a:t>
            </a:r>
            <a:r>
              <a:rPr dirty="0" sz="1800" spc="210">
                <a:latin typeface="Cambria"/>
                <a:cs typeface="Cambria"/>
              </a:rPr>
              <a:t> </a:t>
            </a:r>
            <a:r>
              <a:rPr dirty="0" sz="1800" spc="85">
                <a:latin typeface="Cambria"/>
                <a:cs typeface="Cambria"/>
              </a:rPr>
              <a:t>they</a:t>
            </a:r>
            <a:r>
              <a:rPr dirty="0" sz="1800" spc="170">
                <a:latin typeface="Cambria"/>
                <a:cs typeface="Cambria"/>
              </a:rPr>
              <a:t> </a:t>
            </a:r>
            <a:r>
              <a:rPr dirty="0" sz="1800" spc="165">
                <a:latin typeface="Cambria"/>
                <a:cs typeface="Cambria"/>
              </a:rPr>
              <a:t>can</a:t>
            </a:r>
            <a:r>
              <a:rPr dirty="0" sz="1800" spc="200">
                <a:latin typeface="Cambria"/>
                <a:cs typeface="Cambria"/>
              </a:rPr>
              <a:t> </a:t>
            </a:r>
            <a:r>
              <a:rPr dirty="0" sz="1800" spc="130">
                <a:latin typeface="Cambria"/>
                <a:cs typeface="Cambria"/>
              </a:rPr>
              <a:t>earn,</a:t>
            </a:r>
            <a:r>
              <a:rPr dirty="0" sz="1800" spc="165">
                <a:latin typeface="Cambria"/>
                <a:cs typeface="Cambria"/>
              </a:rPr>
              <a:t> </a:t>
            </a:r>
            <a:r>
              <a:rPr dirty="0" sz="1800" spc="100">
                <a:latin typeface="Cambria"/>
                <a:cs typeface="Cambria"/>
              </a:rPr>
              <a:t>helping</a:t>
            </a:r>
            <a:r>
              <a:rPr dirty="0" sz="1800" spc="150">
                <a:latin typeface="Cambria"/>
                <a:cs typeface="Cambria"/>
              </a:rPr>
              <a:t> </a:t>
            </a:r>
            <a:r>
              <a:rPr dirty="0" sz="1800" spc="120">
                <a:latin typeface="Cambria"/>
                <a:cs typeface="Cambria"/>
              </a:rPr>
              <a:t>them</a:t>
            </a:r>
            <a:r>
              <a:rPr dirty="0" sz="1800" spc="195">
                <a:latin typeface="Cambria"/>
                <a:cs typeface="Cambria"/>
              </a:rPr>
              <a:t> </a:t>
            </a:r>
            <a:r>
              <a:rPr dirty="0" sz="1800" spc="105">
                <a:latin typeface="Cambria"/>
                <a:cs typeface="Cambria"/>
              </a:rPr>
              <a:t>choose</a:t>
            </a:r>
            <a:r>
              <a:rPr dirty="0" sz="1800" spc="180">
                <a:latin typeface="Cambria"/>
                <a:cs typeface="Cambria"/>
              </a:rPr>
              <a:t> </a:t>
            </a:r>
            <a:r>
              <a:rPr dirty="0" sz="1800" spc="100">
                <a:latin typeface="Cambria"/>
                <a:cs typeface="Cambria"/>
              </a:rPr>
              <a:t>smartly.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50">
                <a:latin typeface="Cambria"/>
                <a:cs typeface="Cambria"/>
              </a:rPr>
              <a:t>It</a:t>
            </a:r>
            <a:r>
              <a:rPr dirty="0" sz="1800" spc="180">
                <a:latin typeface="Cambria"/>
                <a:cs typeface="Cambria"/>
              </a:rPr>
              <a:t> </a:t>
            </a:r>
            <a:r>
              <a:rPr dirty="0" sz="1800" spc="100">
                <a:latin typeface="Cambria"/>
                <a:cs typeface="Cambria"/>
              </a:rPr>
              <a:t>also</a:t>
            </a:r>
            <a:r>
              <a:rPr dirty="0" sz="1800" spc="195">
                <a:latin typeface="Cambria"/>
                <a:cs typeface="Cambria"/>
              </a:rPr>
              <a:t> </a:t>
            </a:r>
            <a:r>
              <a:rPr dirty="0" sz="1800" spc="105">
                <a:latin typeface="Cambria"/>
                <a:cs typeface="Cambria"/>
              </a:rPr>
              <a:t>explains</a:t>
            </a:r>
            <a:r>
              <a:rPr dirty="0" sz="1800" spc="190">
                <a:latin typeface="Cambria"/>
                <a:cs typeface="Cambria"/>
              </a:rPr>
              <a:t> </a:t>
            </a:r>
            <a:r>
              <a:rPr dirty="0" sz="1800" spc="135">
                <a:latin typeface="Cambria"/>
                <a:cs typeface="Cambria"/>
              </a:rPr>
              <a:t>non-</a:t>
            </a:r>
            <a:r>
              <a:rPr dirty="0" sz="1800" spc="200">
                <a:latin typeface="Cambria"/>
                <a:cs typeface="Cambria"/>
              </a:rPr>
              <a:t>CGPA</a:t>
            </a:r>
            <a:r>
              <a:rPr dirty="0" sz="1800" spc="175">
                <a:latin typeface="Cambria"/>
                <a:cs typeface="Cambria"/>
              </a:rPr>
              <a:t> </a:t>
            </a:r>
            <a:r>
              <a:rPr dirty="0" sz="1800" spc="80">
                <a:latin typeface="Cambria"/>
                <a:cs typeface="Cambria"/>
              </a:rPr>
              <a:t>credits</a:t>
            </a:r>
            <a:r>
              <a:rPr dirty="0" sz="1800" spc="220">
                <a:latin typeface="Cambria"/>
                <a:cs typeface="Cambria"/>
              </a:rPr>
              <a:t> </a:t>
            </a:r>
            <a:r>
              <a:rPr dirty="0" sz="1800" spc="50">
                <a:latin typeface="Cambria"/>
                <a:cs typeface="Cambria"/>
              </a:rPr>
              <a:t>like:</a:t>
            </a:r>
            <a:endParaRPr sz="1800">
              <a:latin typeface="Cambria"/>
              <a:cs typeface="Cambria"/>
            </a:endParaRPr>
          </a:p>
          <a:p>
            <a:pPr marL="12700" marR="5528310">
              <a:lnSpc>
                <a:spcPct val="200100"/>
              </a:lnSpc>
            </a:pPr>
            <a:r>
              <a:rPr dirty="0" sz="1800" spc="114">
                <a:latin typeface="Cambria"/>
                <a:cs typeface="Cambria"/>
              </a:rPr>
              <a:t>Workshops,</a:t>
            </a:r>
            <a:r>
              <a:rPr dirty="0" sz="1800" spc="150">
                <a:latin typeface="Cambria"/>
                <a:cs typeface="Cambria"/>
              </a:rPr>
              <a:t> </a:t>
            </a:r>
            <a:r>
              <a:rPr dirty="0" sz="1800" spc="130">
                <a:latin typeface="Cambria"/>
                <a:cs typeface="Cambria"/>
              </a:rPr>
              <a:t>seminars,</a:t>
            </a:r>
            <a:r>
              <a:rPr dirty="0" sz="1800" spc="175">
                <a:latin typeface="Cambria"/>
                <a:cs typeface="Cambria"/>
              </a:rPr>
              <a:t> </a:t>
            </a:r>
            <a:r>
              <a:rPr dirty="0" sz="1800" spc="155">
                <a:latin typeface="Cambria"/>
                <a:cs typeface="Cambria"/>
              </a:rPr>
              <a:t>and</a:t>
            </a:r>
            <a:r>
              <a:rPr dirty="0" sz="1800" spc="190">
                <a:latin typeface="Cambria"/>
                <a:cs typeface="Cambria"/>
              </a:rPr>
              <a:t> </a:t>
            </a:r>
            <a:r>
              <a:rPr dirty="0" sz="1800" spc="95">
                <a:latin typeface="Cambria"/>
                <a:cs typeface="Cambria"/>
              </a:rPr>
              <a:t>coding</a:t>
            </a:r>
            <a:r>
              <a:rPr dirty="0" sz="1800" spc="185">
                <a:latin typeface="Cambria"/>
                <a:cs typeface="Cambria"/>
              </a:rPr>
              <a:t> </a:t>
            </a:r>
            <a:r>
              <a:rPr dirty="0" sz="1800" spc="95">
                <a:latin typeface="Cambria"/>
                <a:cs typeface="Cambria"/>
              </a:rPr>
              <a:t>contests Volunteering</a:t>
            </a:r>
            <a:r>
              <a:rPr dirty="0" sz="1800" spc="200">
                <a:latin typeface="Cambria"/>
                <a:cs typeface="Cambria"/>
              </a:rPr>
              <a:t> </a:t>
            </a:r>
            <a:r>
              <a:rPr dirty="0" sz="1800" spc="155">
                <a:latin typeface="Cambria"/>
                <a:cs typeface="Cambria"/>
              </a:rPr>
              <a:t>and</a:t>
            </a:r>
            <a:r>
              <a:rPr dirty="0" sz="1800" spc="150">
                <a:latin typeface="Cambria"/>
                <a:cs typeface="Cambria"/>
              </a:rPr>
              <a:t> </a:t>
            </a:r>
            <a:r>
              <a:rPr dirty="0" sz="1800" spc="125">
                <a:latin typeface="Cambria"/>
                <a:cs typeface="Cambria"/>
              </a:rPr>
              <a:t>club</a:t>
            </a:r>
            <a:r>
              <a:rPr dirty="0" sz="1800" spc="200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activities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</a:pPr>
            <a:r>
              <a:rPr dirty="0" sz="1800" spc="140">
                <a:latin typeface="Cambria"/>
                <a:cs typeface="Cambria"/>
              </a:rPr>
              <a:t>Students</a:t>
            </a:r>
            <a:r>
              <a:rPr dirty="0" sz="1800" spc="190">
                <a:latin typeface="Cambria"/>
                <a:cs typeface="Cambria"/>
              </a:rPr>
              <a:t> </a:t>
            </a:r>
            <a:r>
              <a:rPr dirty="0" sz="1800" spc="65">
                <a:latin typeface="Cambria"/>
                <a:cs typeface="Cambria"/>
              </a:rPr>
              <a:t>get</a:t>
            </a:r>
            <a:r>
              <a:rPr dirty="0" sz="1800" spc="185">
                <a:latin typeface="Cambria"/>
                <a:cs typeface="Cambria"/>
              </a:rPr>
              <a:t> </a:t>
            </a:r>
            <a:r>
              <a:rPr dirty="0" sz="1800" spc="85">
                <a:latin typeface="Cambria"/>
                <a:cs typeface="Cambria"/>
              </a:rPr>
              <a:t>clear</a:t>
            </a:r>
            <a:r>
              <a:rPr dirty="0" sz="1800" spc="190">
                <a:latin typeface="Cambria"/>
                <a:cs typeface="Cambria"/>
              </a:rPr>
              <a:t> </a:t>
            </a:r>
            <a:r>
              <a:rPr dirty="0" sz="1800" spc="140">
                <a:latin typeface="Cambria"/>
                <a:cs typeface="Cambria"/>
              </a:rPr>
              <a:t>paths</a:t>
            </a:r>
            <a:r>
              <a:rPr dirty="0" sz="1800" spc="175">
                <a:latin typeface="Cambria"/>
                <a:cs typeface="Cambria"/>
              </a:rPr>
              <a:t> </a:t>
            </a:r>
            <a:r>
              <a:rPr dirty="0" sz="1800" spc="50">
                <a:latin typeface="Cambria"/>
                <a:cs typeface="Cambria"/>
              </a:rPr>
              <a:t>to</a:t>
            </a:r>
            <a:r>
              <a:rPr dirty="0" sz="1800" spc="220">
                <a:latin typeface="Cambria"/>
                <a:cs typeface="Cambria"/>
              </a:rPr>
              <a:t> </a:t>
            </a:r>
            <a:r>
              <a:rPr dirty="0" sz="1800" spc="85">
                <a:latin typeface="Cambria"/>
                <a:cs typeface="Cambria"/>
              </a:rPr>
              <a:t>complete</a:t>
            </a:r>
            <a:r>
              <a:rPr dirty="0" sz="1800" spc="190">
                <a:latin typeface="Cambria"/>
                <a:cs typeface="Cambria"/>
              </a:rPr>
              <a:t> </a:t>
            </a:r>
            <a:r>
              <a:rPr dirty="0" sz="1800" spc="110">
                <a:latin typeface="Cambria"/>
                <a:cs typeface="Cambria"/>
              </a:rPr>
              <a:t>both</a:t>
            </a:r>
            <a:r>
              <a:rPr dirty="0" sz="1800" spc="210">
                <a:latin typeface="Cambria"/>
                <a:cs typeface="Cambria"/>
              </a:rPr>
              <a:t> </a:t>
            </a:r>
            <a:r>
              <a:rPr dirty="0" sz="1800" spc="125">
                <a:latin typeface="Cambria"/>
                <a:cs typeface="Cambria"/>
              </a:rPr>
              <a:t>academic</a:t>
            </a:r>
            <a:r>
              <a:rPr dirty="0" sz="1800" spc="145">
                <a:latin typeface="Cambria"/>
                <a:cs typeface="Cambria"/>
              </a:rPr>
              <a:t> </a:t>
            </a:r>
            <a:r>
              <a:rPr dirty="0" sz="1800" spc="155">
                <a:latin typeface="Cambria"/>
                <a:cs typeface="Cambria"/>
              </a:rPr>
              <a:t>and</a:t>
            </a:r>
            <a:r>
              <a:rPr dirty="0" sz="1800" spc="185">
                <a:latin typeface="Cambria"/>
                <a:cs typeface="Cambria"/>
              </a:rPr>
              <a:t> </a:t>
            </a:r>
            <a:r>
              <a:rPr dirty="0" sz="1800" spc="100">
                <a:latin typeface="Cambria"/>
                <a:cs typeface="Cambria"/>
              </a:rPr>
              <a:t>extracurricular</a:t>
            </a:r>
            <a:r>
              <a:rPr dirty="0" sz="1800" spc="220">
                <a:latin typeface="Cambria"/>
                <a:cs typeface="Cambria"/>
              </a:rPr>
              <a:t> </a:t>
            </a:r>
            <a:r>
              <a:rPr dirty="0" sz="1800" spc="70">
                <a:latin typeface="Cambria"/>
                <a:cs typeface="Cambria"/>
              </a:rPr>
              <a:t>credit</a:t>
            </a:r>
            <a:r>
              <a:rPr dirty="0" sz="1800" spc="180">
                <a:latin typeface="Cambria"/>
                <a:cs typeface="Cambria"/>
              </a:rPr>
              <a:t> </a:t>
            </a:r>
            <a:r>
              <a:rPr dirty="0" sz="1800" spc="85">
                <a:latin typeface="Cambria"/>
                <a:cs typeface="Cambria"/>
              </a:rPr>
              <a:t>requirements </a:t>
            </a:r>
            <a:r>
              <a:rPr dirty="0" sz="1800" spc="95">
                <a:latin typeface="Cambria"/>
                <a:cs typeface="Cambria"/>
              </a:rPr>
              <a:t>by</a:t>
            </a:r>
            <a:r>
              <a:rPr dirty="0" sz="1800" spc="185">
                <a:latin typeface="Cambria"/>
                <a:cs typeface="Cambria"/>
              </a:rPr>
              <a:t> </a:t>
            </a:r>
            <a:r>
              <a:rPr dirty="0" sz="1800" spc="100">
                <a:latin typeface="Cambria"/>
                <a:cs typeface="Cambria"/>
              </a:rPr>
              <a:t>the</a:t>
            </a:r>
            <a:r>
              <a:rPr dirty="0" sz="1800" spc="195">
                <a:latin typeface="Cambria"/>
                <a:cs typeface="Cambria"/>
              </a:rPr>
              <a:t> </a:t>
            </a:r>
            <a:r>
              <a:rPr dirty="0" sz="1800" spc="114">
                <a:latin typeface="Cambria"/>
                <a:cs typeface="Cambria"/>
              </a:rPr>
              <a:t>end</a:t>
            </a:r>
            <a:r>
              <a:rPr dirty="0" sz="1800" spc="18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of</a:t>
            </a:r>
            <a:r>
              <a:rPr dirty="0" sz="1800" spc="200">
                <a:latin typeface="Cambria"/>
                <a:cs typeface="Cambria"/>
              </a:rPr>
              <a:t> </a:t>
            </a:r>
            <a:r>
              <a:rPr dirty="0" sz="1800" spc="75">
                <a:latin typeface="Cambria"/>
                <a:cs typeface="Cambria"/>
              </a:rPr>
              <a:t>their</a:t>
            </a:r>
            <a:r>
              <a:rPr dirty="0" sz="1800" spc="195">
                <a:latin typeface="Cambria"/>
                <a:cs typeface="Cambria"/>
              </a:rPr>
              <a:t> </a:t>
            </a:r>
            <a:r>
              <a:rPr dirty="0" sz="1800" spc="75">
                <a:latin typeface="Cambria"/>
                <a:cs typeface="Cambria"/>
              </a:rPr>
              <a:t>degree.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55"/>
              <a:t>Thank</a:t>
            </a:r>
            <a:r>
              <a:rPr dirty="0" spc="75"/>
              <a:t> </a:t>
            </a:r>
            <a:r>
              <a:rPr dirty="0" spc="-45"/>
              <a:t>You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algn="ctr" marR="172720">
              <a:lnSpc>
                <a:spcPct val="100000"/>
              </a:lnSpc>
              <a:spcBef>
                <a:spcPts val="110"/>
              </a:spcBef>
            </a:pPr>
            <a:r>
              <a:rPr dirty="0"/>
              <a:t>Questions</a:t>
            </a:r>
            <a:r>
              <a:rPr dirty="0" spc="150"/>
              <a:t> </a:t>
            </a:r>
            <a:r>
              <a:rPr dirty="0"/>
              <a:t>and</a:t>
            </a:r>
            <a:r>
              <a:rPr dirty="0" spc="175"/>
              <a:t> </a:t>
            </a:r>
            <a:r>
              <a:rPr dirty="0"/>
              <a:t>Discussion</a:t>
            </a:r>
            <a:r>
              <a:rPr dirty="0" spc="125"/>
              <a:t> </a:t>
            </a:r>
            <a:r>
              <a:rPr dirty="0" spc="-10"/>
              <a:t>Welcome</a:t>
            </a:r>
          </a:p>
          <a:p>
            <a:pPr>
              <a:lnSpc>
                <a:spcPct val="100000"/>
              </a:lnSpc>
              <a:spcBef>
                <a:spcPts val="1205"/>
              </a:spcBef>
            </a:pPr>
          </a:p>
          <a:p>
            <a:pPr marL="12700">
              <a:lnSpc>
                <a:spcPct val="100000"/>
              </a:lnSpc>
            </a:pPr>
            <a:r>
              <a:rPr dirty="0" sz="2400" b="0">
                <a:solidFill>
                  <a:srgbClr val="374151"/>
                </a:solidFill>
                <a:latin typeface="Arial MT"/>
                <a:cs typeface="Arial MT"/>
              </a:rPr>
              <a:t>Credit</a:t>
            </a:r>
            <a:r>
              <a:rPr dirty="0" sz="2400" spc="-114" b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374151"/>
                </a:solidFill>
                <a:latin typeface="Arial MT"/>
                <a:cs typeface="Arial MT"/>
              </a:rPr>
              <a:t>Tracker:</a:t>
            </a:r>
            <a:r>
              <a:rPr dirty="0" sz="2400" spc="-85" b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374151"/>
                </a:solidFill>
                <a:latin typeface="Arial MT"/>
                <a:cs typeface="Arial MT"/>
              </a:rPr>
              <a:t>Empowering</a:t>
            </a:r>
            <a:r>
              <a:rPr dirty="0" sz="2400" spc="-55" b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2400" spc="-40" b="0">
                <a:solidFill>
                  <a:srgbClr val="374151"/>
                </a:solidFill>
                <a:latin typeface="Arial MT"/>
                <a:cs typeface="Arial MT"/>
              </a:rPr>
              <a:t>B.Tech</a:t>
            </a:r>
            <a:r>
              <a:rPr dirty="0" sz="2400" spc="-125" b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374151"/>
                </a:solidFill>
                <a:latin typeface="Arial MT"/>
                <a:cs typeface="Arial MT"/>
              </a:rPr>
              <a:t>students</a:t>
            </a:r>
            <a:r>
              <a:rPr dirty="0" sz="2400" spc="-105" b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374151"/>
                </a:solidFill>
                <a:latin typeface="Arial MT"/>
                <a:cs typeface="Arial MT"/>
              </a:rPr>
              <a:t>toward</a:t>
            </a:r>
            <a:r>
              <a:rPr dirty="0" sz="2400" spc="-65" b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374151"/>
                </a:solidFill>
                <a:latin typeface="Arial MT"/>
                <a:cs typeface="Arial MT"/>
              </a:rPr>
              <a:t>successful</a:t>
            </a:r>
            <a:r>
              <a:rPr dirty="0" sz="2400" spc="-80" b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2400" spc="-10" b="0">
                <a:solidFill>
                  <a:srgbClr val="374151"/>
                </a:solidFill>
                <a:latin typeface="Arial MT"/>
                <a:cs typeface="Arial MT"/>
              </a:rPr>
              <a:t>degree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b="0">
                <a:solidFill>
                  <a:srgbClr val="374151"/>
                </a:solidFill>
                <a:latin typeface="Arial MT"/>
                <a:cs typeface="Arial MT"/>
              </a:rPr>
              <a:t>completion</a:t>
            </a:r>
            <a:r>
              <a:rPr dirty="0" sz="2400" spc="-114" b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374151"/>
                </a:solidFill>
                <a:latin typeface="Arial MT"/>
                <a:cs typeface="Arial MT"/>
              </a:rPr>
              <a:t>with</a:t>
            </a:r>
            <a:r>
              <a:rPr dirty="0" sz="2400" spc="-70" b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374151"/>
                </a:solidFill>
                <a:latin typeface="Arial MT"/>
                <a:cs typeface="Arial MT"/>
              </a:rPr>
              <a:t>intelligent</a:t>
            </a:r>
            <a:r>
              <a:rPr dirty="0" sz="2400" spc="-95" b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374151"/>
                </a:solidFill>
                <a:latin typeface="Arial MT"/>
                <a:cs typeface="Arial MT"/>
              </a:rPr>
              <a:t>academic</a:t>
            </a:r>
            <a:r>
              <a:rPr dirty="0" sz="2400" spc="-140" b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dirty="0" sz="2400" spc="-10" b="0">
                <a:solidFill>
                  <a:srgbClr val="374151"/>
                </a:solidFill>
                <a:latin typeface="Arial MT"/>
                <a:cs typeface="Arial MT"/>
              </a:rPr>
              <a:t>planning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2025-07-31T09:52:59Z</dcterms:created>
  <dcterms:modified xsi:type="dcterms:W3CDTF">2025-07-31T09:52:59Z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2025-07-31T00:00:00Z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2025-07-31T00:00:00Z</vt:filetime>
  </property>
  <property fmtid="{D5CDD505-2E9C-101B-9397-08002B2CF9AE}" pid="5" name="Producer">
    <vt:lpwstr>www.ilovepdf.com</vt:lpwstr>
  </property>
</Properties>
</file>